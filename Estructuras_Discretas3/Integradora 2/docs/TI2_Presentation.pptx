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334155"/>
                </a:solidFill>
                <a:latin typeface="Arial"/>
              </a:rPr>
              <a:t>Token length distribution (train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1–10</c:v>
                  </c:pt>
                  <c:pt idx="1">
                    <c:v>11–20</c:v>
                  </c:pt>
                  <c:pt idx="2">
                    <c:v>21–29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560</c:v>
                </c:pt>
                <c:pt idx="2">
                  <c:v>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Cohen's Kappa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Cohen's Kappa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CC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Dummy</c:v>
                  </c:pt>
                  <c:pt idx="1">
                    <c:v>Dense NN</c:v>
                  </c:pt>
                  <c:pt idx="2">
                    <c:v>RNN</c:v>
                  </c:pt>
                  <c:pt idx="3">
                    <c:v>LSTM def.</c:v>
                  </c:pt>
                  <c:pt idx="4">
                    <c:v>LSTM tuned</c:v>
                  </c:pt>
                  <c:pt idx="5">
                    <c:v>DistilBERT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0.68</c:v>
                </c:pt>
                <c:pt idx="2">
                  <c:v>0.63</c:v>
                </c:pt>
                <c:pt idx="3">
                  <c:v>0.59</c:v>
                </c:pt>
                <c:pt idx="4">
                  <c:v>0.67</c:v>
                </c:pt>
                <c:pt idx="5">
                  <c:v>0.84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ESTEFANY opens. Introduce team and project goal: compare 5 architectures for airline tweet sentiment classification, connecting to TM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ESTEFANY: OE3.3 to 3.6. We are in Unit 3 — Turing Machines and Applications. This project is the empirical culmination of those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Explain dataset filtering, balancing (why 50/50), stratified split. Then EDA: token length histogram means short texts — key insight for architecture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MIGUEL: Walk through 8 steps. Emphasize stopword decision — this is a domain-informed empirical choice, not just following standard advice. For DistilBERT: only steps 1-2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ESTEFANY: Explain architecture layer by layer. For Dense: GlobalAvgPool = bag-of-words with learned vectors. For RNN: mask_zero detail is important — without it, padding corrupts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ESTEFANY: LSTM gates detail + grid search result (32 &lt; 64 units = less overfitting). DistilBERT: transfer learning rationale. WordPiece handles Twitter vocab. Self-attention vs RNN is the key conceptual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ESTEFANY: Read through results row by row. Highlight: Dense NN beats RNN and default LSTM. Tuned LSTM corrects overfitting. DistilBERT: 92% acc, kappa 0.84 = almost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ANDRES: Walk through bar chart. Explain each of the 3 key findings. DistilBERT insight: paradigm shift — pre-train then fine-tune, not train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ANDRES: This is the theoretical core of the assignment. Read each row. Emphasize: this is not just a metaphor — the Kappa values empirically mirror the hierarchy. Transformer's O(1) access = closest to full TM.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ANDRES closes. Read conclusions. Emphasize bullets 5 and 6 (mint = most important). Future work is brief — don't spend more than 15 seconds on it. Close with 'Thank you, we're 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with Neural Networks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Integrative Task 2  ·  CyED3  ·  2026-1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Estefany Villamarin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Miguel Perez   ·   Andres Fajardo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ICESI  ·  June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43891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4407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71600"/>
            <a:ext cx="685800" cy="68580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35608"/>
            <a:ext cx="557784" cy="557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OE3.3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6002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supervised learning, NLP, and neural networks.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297180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324612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310128"/>
            <a:ext cx="557784" cy="5577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OE3.4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17320" y="34747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RNN, LSTM, and Transformers to real-world NLP classification.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46320" y="137160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435608"/>
            <a:ext cx="557784" cy="5577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OE3.5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669280" y="16002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each architecture to a level in the Turing hierarchy.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32461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310128"/>
            <a:ext cx="557784" cy="5577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OE3.6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69280" y="34747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the expressive power of different computational models.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Exploratory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07008"/>
            <a:ext cx="594360" cy="59436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261872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7190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US Airline Sentiment (Crowdflower / Kaggle, 2015)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2194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Tweets directed at major US airlines — February 2015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26700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labels: positive / negative / neutral (14,640 tweets)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31455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to binary: 500 positive + 500 negative (random_state=42)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36210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working dataset: 1,000 balanced tweets (50 / 50)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40965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80/20 stratified → 800 train · 200 test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105156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83480" y="120700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261872"/>
            <a:ext cx="484632" cy="4846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Findings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846320" y="1737360"/>
          <a:ext cx="36576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4754880" y="34290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= 15 tokens · Max = 29 tokens after cleaning. MAX_SEQ_LEN = 50 covers 100% of the distribution. Short texts → bag-of-words models remain competitive.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1887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978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URLs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http://... , www...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1887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1978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@mentions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@SouthwestAir → deleted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887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978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hashtags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#great → great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1430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1887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1978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16642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HTML entities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2057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&amp;amp; → deleted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889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980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2644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CAPS → all caps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1460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0" y="27889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7980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06040" y="32644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punctuation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[a-z\s] only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7889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7980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2644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 Tokenizer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vocab=5000 · OOV=&lt;OOV&gt;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12280" y="274320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2788920"/>
            <a:ext cx="411480" cy="41148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279806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3720" y="32644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Pad/Truncate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0372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post-padding · len=50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4805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4897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Stopwords NOT removed —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Negation words (not, never, no, nor) are essential sentiment signals. Empirically tested: removing them dropped validation accuracy. remove_stopwords=False.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Architectures — Dense NN &amp; Vanilla RNN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Neural Network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17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 (5000 × 64)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93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GlobalAveragePooling1D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64  ReLU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E0F2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44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BAE6FD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198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  sigmoid  →  output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GlobalAvgPool vs Flatten: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→ 3,200 dims → 204K params → overfitting. AvgPool keeps 64 dims.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896112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RNN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17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 (5000 × 64, mask_zero=True)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198424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93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SimpleRNN  64 units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2459736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BBF7D0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68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2935224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A7F3D0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44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  sigmoid  →  output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4564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mask_zero=True: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mask, padding tokens (index 0) are processed as real content and corrupt the hidden state. The mask forces the RNN to ignore them.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Architectures — LSTM &amp; DistilBERT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 (tuned: best config)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F5F3FF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17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 (5000 × 64, mask_zero=True)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93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 32 units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DDD6FE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C4B5FD"/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44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  sigmoid  →  output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72384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815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search: 12 combos  →  units ∈ {32,64,128} · drop ∈ {0.2,0.4} · lr ∈ {1e-3, 5e-4}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gates (input · forget · output) → selective read/write on cell state → captures long-range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896112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  (Transformer)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1E3A5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17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 Tokenizer  →  subword units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1984248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1A4570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993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[CLS] + tokens + [SEP] + attn_mask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2459736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174880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68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Transformer encoder layers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2935224"/>
            <a:ext cx="3657600" cy="402336"/>
          </a:xfrm>
          <a:prstGeom prst="roundRect">
            <a:avLst>
              <a:gd name="adj" fmla="val 13636"/>
            </a:avLst>
          </a:prstGeom>
          <a:solidFill>
            <a:srgbClr val="145090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44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Head  →  sigmoid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3467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~67M params  ·  pre-trained on BookCorpus + Wikipedia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fine-tuning: 3 epochs · lr=2e-5 · warmup 10%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 every token attends to ALL others in O(1)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Test Set (n = 200)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87552"/>
          <a:ext cx="841248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1243584"/>
                <a:gridCol w="1243584"/>
                <a:gridCol w="1243584"/>
                <a:gridCol w="1243584"/>
                <a:gridCol w="1243584"/>
              </a:tblGrid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Kappa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DummyClassifier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NN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5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Vanilla RNN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 (default)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 (tuned)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EEA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DistilBERT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EEA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EEA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EEA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EEA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EEA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Cohen's Kappa: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= no learning  ·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0.41–0.60 = moderate  ·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0.61–0.80 = substantial  ·  </a:t>
            </a:r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0.81 = almost perfect (Landis &amp; Koch, 1977)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96012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49240" y="96012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40680" y="102412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10058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NN &gt; RNN &amp; LSTM default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40680" y="138988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Tweets ≤ 29 tokens → long-range dependencies rare. GlobalAvgPool captures average sentiment effectively.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49240" y="2221992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40680" y="228600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22677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LSTM corrects overfitting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4068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units=32 vs 64: less capacity → less overfit on 800 samples. Grid search +4pp accuracy over default.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49240" y="3483864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40680" y="3547872"/>
            <a:ext cx="347472" cy="34747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3529584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 dominates (+8pp)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40680" y="3913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from billions of tokens. 3 epochs fine-tuning enough. Self-attention = full-context reading in O(1).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 Machine Connections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architecture corresponds to a class in the Turing computational hierarchy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3203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NN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40280" y="138988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97480" y="1371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Transducer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positional memory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1426464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42646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κ=0.68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85416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32033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5856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RNN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27685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2585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Bounded-Memory Automaton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22585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hidden state (fades)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2313432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31343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κ=0.63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32033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4553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40280" y="316382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97480" y="314553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Bounded Automaton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314553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cell-state tape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92440" y="3200400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320040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κ=0.67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320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3250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40280" y="405079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97480" y="403250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Content-Addressable / Near-TM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06440" y="403250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access to any position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2440" y="4087368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408736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κ=0.84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gains track expressiveness. Each jump in computational power maps to a measurable improvement in Kappa.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1A56A0">
              <a:alpha val="15000"/>
            </a:srgbClr>
          </a:solidFill>
          <a:ln w="12700">
            <a:solidFill>
              <a:srgbClr val="1A56A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743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789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5156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neural models substantially beat the DummyClassifier (κ = 0 → 0.63+).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9105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56362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NN competes with recurrent models on short tweets — sequential modeling isn't always necessary.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07568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Negation stopword preservation was empirically validated as a critical NLP decision.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15184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258775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(units=32, lr=5e-4) recovered +4pp over the default LSTM by reducing overfitting.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2724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" y="309981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 achieves κ = 0.84 — transfer learning dominates even with only 800 training samples.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639312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2960" y="36118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gains mirror the Turing hierarchy: Transducer → Bounded → LBA → Near-TM.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365760" y="431596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26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502920" y="43251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3-class (incl. neutral)  ·  Bi-LSTM  ·  XLM-R cross-lingual  ·  Neural Turing Machines  ·  SHAP explainability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with Neural Networks</dc:title>
  <dc:subject>PptxGenJS Presentation</dc:subject>
  <dc:creator>Villamarin, Perez, Fajardo</dc:creator>
  <cp:lastModifiedBy>Villamarin, Perez, Fajardo</cp:lastModifiedBy>
  <cp:revision>1</cp:revision>
  <dcterms:created xsi:type="dcterms:W3CDTF">2026-06-09T22:51:21Z</dcterms:created>
  <dcterms:modified xsi:type="dcterms:W3CDTF">2026-06-09T22:51:21Z</dcterms:modified>
</cp:coreProperties>
</file>